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v7 (3050)</c:v>
                </c:pt>
              </c:strCache>
            </c:strRef>
          </c:tx>
          <c:spPr>
            <a:solidFill>
              <a:srgbClr val="B7C7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 OA</c:v>
                  </c:pt>
                  <c:pt idx="1">
                    <c:v>Val mIoU</c:v>
                  </c:pt>
                  <c:pt idx="2">
                    <c:v>Test OA</c:v>
                  </c:pt>
                  <c:pt idx="3">
                    <c:v>Test mIoU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90.41</c:v>
                </c:pt>
                <c:pt idx="1">
                  <c:v>35.45</c:v>
                </c:pt>
                <c:pt idx="2">
                  <c:v>70.65</c:v>
                </c:pt>
                <c:pt idx="3">
                  <c:v>24.67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v8 (3050)</c:v>
                </c:pt>
              </c:strCache>
            </c:strRef>
          </c:tx>
          <c:spPr>
            <a:solidFill>
              <a:srgbClr val="5C8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 OA</c:v>
                  </c:pt>
                  <c:pt idx="1">
                    <c:v>Val mIoU</c:v>
                  </c:pt>
                  <c:pt idx="2">
                    <c:v>Test OA</c:v>
                  </c:pt>
                  <c:pt idx="3">
                    <c:v>Test mIoU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85.38</c:v>
                </c:pt>
                <c:pt idx="1">
                  <c:v>29.68</c:v>
                </c:pt>
                <c:pt idx="2">
                  <c:v>67.07</c:v>
                </c:pt>
                <c:pt idx="3">
                  <c:v>22.28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v9 (4090)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 OA</c:v>
                  </c:pt>
                  <c:pt idx="1">
                    <c:v>Val mIoU</c:v>
                  </c:pt>
                  <c:pt idx="2">
                    <c:v>Test OA</c:v>
                  </c:pt>
                  <c:pt idx="3">
                    <c:v>Test mIoU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92.75</c:v>
                </c:pt>
                <c:pt idx="1">
                  <c:v>47.76</c:v>
                </c:pt>
                <c:pt idx="2">
                  <c:v>92.21</c:v>
                </c:pt>
                <c:pt idx="3">
                  <c:v>50.4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33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926080"/>
            <a:ext cx="3108960" cy="31089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011680"/>
            <a:ext cx="2011680" cy="2011680"/>
          </a:xfrm>
          <a:prstGeom prst="ellipse">
            <a:avLst/>
          </a:prstGeom>
          <a:solidFill>
            <a:srgbClr val="17BEB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3931920"/>
            <a:ext cx="1371600" cy="1371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146304" cy="182880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60120" y="23957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7BE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主动学习驱动的小样本语义分割研究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v4 → v9 进展汇报   ·   V10 实验方案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汇报人：XINYU WANG      单位：中国科学院大学（UCAS）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498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2026-07-31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研究背景与任务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任务目标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对青藏高原 2020 年多源遥感影像进行湿地类型语义分割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类目标：湿地 / 水体 / 湖泊（背景未标注，置为忽略）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 Niu et al. 2025 ESSD，改造为 LabelMe JSON 多边形标注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核心挑战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标注成本高：人工多边形标注耗时费力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数据不平衡：已精修 225 样本，1278 未标注待利用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早期硬件受限：RTX 3050 4GB 显存制约训练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32120" y="105156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1161288"/>
            <a:ext cx="13533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1629918"/>
            <a:ext cx="135331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影像总数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512×512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50608" y="105156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42048" y="1161288"/>
            <a:ext cx="13533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42048" y="1629918"/>
            <a:ext cx="135331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输入波段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S2+S1+地形+指数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32120" y="22402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2350008"/>
            <a:ext cx="13533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BE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23560" y="2818638"/>
            <a:ext cx="135331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已精修样本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0608" y="224028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42048" y="2350008"/>
            <a:ext cx="13533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1278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42048" y="2818638"/>
            <a:ext cx="1353312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未标注 pool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3520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主动学习核心命题：以最少人工标注，最大化模型分割精度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数据资源：30 波段多源遥感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201168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数据源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波段数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明细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Sentinel-2 光学（E+L 双时相）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blue / green / red / nir / swir1 / swir2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9B6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光谱指数（E+L 双时相）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NDVI / NDWI / MNDWI / EVI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9B6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地形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DEM / SLOPE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9B6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Sentinel-1 SAR（E+L 双时相）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VV / VH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9B6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计数质量层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S2CNT / S1CNT（E/L）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 丢弃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05156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EAF4F4"/>
          </a:solidFill>
          <a:ln w="15240">
            <a:solidFill>
              <a:srgbClr val="17BE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波段分析关键发现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57276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NDVI / NDWI / MNDWI / EVI 指数已预计算</a:t>
            </a:r>
            <a:endParaRPr lang="en-US" sz="10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双时相（E+L）共 8 个指数波段，已在 26 输入通道内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无需额外构建指数通道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8275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6118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数据结构：  </a:t>
            </a:r>
            <a:pPr algn="l"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1504 个 512×512 TIFF（30→26 波段，Sentinel-2 + Sentinel-1 + 地形）｜标注：LabelMe JSON 多边形稀疏正例｜未标注背景 = -1 忽略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核心方法：四象限策略 + 主动学习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四象限策略（关键创新）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512×512 大图 → 4 个不重叠 256×256 象限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克服随机裁剪丢失 75% 信息的问题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OA 从 ~60% 跃升至 ~90%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66360" y="1024128"/>
            <a:ext cx="16916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648" y="1042416"/>
            <a:ext cx="809244" cy="809244"/>
          </a:xfrm>
          <a:prstGeom prst="rect">
            <a:avLst/>
          </a:prstGeom>
          <a:solidFill>
            <a:srgbClr val="A7D3E0"/>
          </a:solidFill>
          <a:ln/>
        </p:spPr>
      </p:sp>
      <p:sp>
        <p:nvSpPr>
          <p:cNvPr id="12" name="Text 10"/>
          <p:cNvSpPr/>
          <p:nvPr/>
        </p:nvSpPr>
        <p:spPr>
          <a:xfrm>
            <a:off x="5184648" y="1042416"/>
            <a:ext cx="809244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象限0 左上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0468" y="1042416"/>
            <a:ext cx="809244" cy="80924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0468" y="1042416"/>
            <a:ext cx="809244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象限1 右上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888236"/>
            <a:ext cx="809244" cy="8092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184648" y="1888236"/>
            <a:ext cx="809244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象限2 左下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0468" y="1888236"/>
            <a:ext cx="809244" cy="809244"/>
          </a:xfrm>
          <a:prstGeom prst="rect">
            <a:avLst/>
          </a:prstGeom>
          <a:solidFill>
            <a:srgbClr val="A7D3E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0468" y="1888236"/>
            <a:ext cx="809244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象限3 右下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0" y="2761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512×512 → 4×256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主动学习闭环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3310128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监督训练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3529584"/>
            <a:ext cx="292608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2258568" y="3310128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3310128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不确定性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21608" y="3529584"/>
            <a:ext cx="292608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7" name="Shape 25"/>
          <p:cNvSpPr/>
          <p:nvPr/>
        </p:nvSpPr>
        <p:spPr>
          <a:xfrm>
            <a:off x="4059936" y="3310128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17BEBB"/>
          </a:solidFill>
          <a:ln/>
        </p:spPr>
      </p:sp>
      <p:sp>
        <p:nvSpPr>
          <p:cNvPr id="28" name="Text 26"/>
          <p:cNvSpPr/>
          <p:nvPr/>
        </p:nvSpPr>
        <p:spPr>
          <a:xfrm>
            <a:off x="4087368" y="3310128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 Top-30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22976" y="3529584"/>
            <a:ext cx="292608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0" name="Shape 28"/>
          <p:cNvSpPr/>
          <p:nvPr/>
        </p:nvSpPr>
        <p:spPr>
          <a:xfrm>
            <a:off x="5861304" y="3310128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E8B54D"/>
          </a:solidFill>
          <a:ln/>
        </p:spPr>
      </p:sp>
      <p:sp>
        <p:nvSpPr>
          <p:cNvPr id="31" name="Text 29"/>
          <p:cNvSpPr/>
          <p:nvPr/>
        </p:nvSpPr>
        <p:spPr>
          <a:xfrm>
            <a:off x="5888736" y="3310128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人工标注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24344" y="3529584"/>
            <a:ext cx="292608" cy="21945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7662672" y="3310128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7690104" y="3310128"/>
            <a:ext cx="1362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加入训练集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 迭代循环，每轮约 30 个样本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技术演进：从失败探索到服务器迁移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8046720" cy="45720"/>
          </a:xfrm>
          <a:prstGeom prst="rect">
            <a:avLst/>
          </a:prstGeom>
          <a:solidFill>
            <a:srgbClr val="D8E2EA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481328"/>
            <a:ext cx="292608" cy="292608"/>
          </a:xfrm>
          <a:prstGeom prst="ellipse">
            <a:avLst/>
          </a:prstGeom>
          <a:solidFill>
            <a:srgbClr val="B03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97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v4~v6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938528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06654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探索失败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随机裁剪 / Z-score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不收敛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3101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教训：per-chip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Min-Max 归一化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1481328"/>
            <a:ext cx="292608" cy="292608"/>
          </a:xfrm>
          <a:prstGeom prst="ellipse">
            <a:avLst/>
          </a:prstGeom>
          <a:solidFill>
            <a:srgbClr val="B9770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1097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77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48840" y="1938528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rgbClr val="B9770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40280" y="206654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77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四象限突破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39572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OA 90.4%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3101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 Test 含弱标签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分数不可靠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1481328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097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1938528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43400" y="206654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基准建立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239572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修正 Test=30人标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OA 85.4%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33101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 bs=2 震荡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95160" y="1481328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097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v9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1938528"/>
            <a:ext cx="1572768" cy="23774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206654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服务器迁移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239572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batch16+Dice+EMA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 OA 92.2%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33101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全面大幅超越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核心结果：v9 全面大幅超越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005840"/>
          <a:ext cx="52120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0972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12070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92.21%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43600" y="1952244"/>
            <a:ext cx="26517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 OA（+25.1pt vs v8）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52160" y="27889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8986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50.40%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943600" y="3643884"/>
            <a:ext cx="26517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 mIoU（+28.1pt vs v8）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5216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注：Test 集与 v8 逐样本一致，指标可直接对比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v9 训练：硬件解锁的疗效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batch size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BEB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Loss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 CE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BEB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CE + Dice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base_ch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(3.3M)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 (13.2M)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学习率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重启式 Cosine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warmup→平滑 Cosine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EMA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0.999 双分支择优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训练要点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1389888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曲线平稳零震荡（v8 曾在 16%~85% 狂跳）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最佳在 E37（raw 分支），E57 早停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EMA 后期波动未胜 raw，v10 调参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提升主因 = batch16 + CE+Dice（非模型变宽）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0" y="352044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EAF4F4"/>
          </a:solidFill>
          <a:ln w="15240">
            <a:solidFill>
              <a:srgbClr val="17BE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35204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v9 Top-30 不确定分数峰值 </a:t>
            </a:r>
            <a:pPr algn="l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0.53</a:t>
            </a:r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（v8 为 0.82）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模型整体自信度大幅提高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关键经验教训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2471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" y="1097280"/>
            <a:ext cx="7351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Per-chip Min-Max &gt; Z-score 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归一化方式决定能否收敛（稀疏正例标注下 Z-score 失效）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2144" y="1783080"/>
            <a:ext cx="7351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四象限 &gt; 随机裁剪 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512→4×256 是突破性创新，Val OA 60%→90%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496312"/>
            <a:ext cx="402336" cy="402336"/>
          </a:xfrm>
          <a:prstGeom prst="ellipse">
            <a:avLst/>
          </a:prstGeom>
          <a:solidFill>
            <a:srgbClr val="17BEB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" y="2468880"/>
            <a:ext cx="7351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batch16 + CE+Dice 治震荡 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bs=2 梯度噪声是 v8 OA 狂跳的病根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182112"/>
            <a:ext cx="402336" cy="402336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2144" y="3154680"/>
            <a:ext cx="7351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 必须固定人标 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混入弱标签导致分数虚高，无法真实评估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86791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2144" y="3840480"/>
            <a:ext cx="7351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数据+方法红利 &gt; 架构宽度 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v9 提升主因是 batch 和 loss，而非模型变大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V10 实验方案：四大改动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4023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61872" y="1216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背景负标签  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（标签体系升级）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7556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新增第4类“背景”，30~50张全要素稠密标注，直击 mIoU 瓶颈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 mIoU +10~20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4023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34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85232" y="1216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90° 旋转增强  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（数据增强）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7556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D4 对称群（8种朝向），遥感定向不变性先验，零成本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 mIoU +1~3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4023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7BEB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17BEB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61872" y="2953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3模型分歧采样  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（主动学习升级）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493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集成分歧抓“认知不确定”，优于单模型 Margin，是 AL gold standard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BE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论文核心创新点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2834640"/>
            <a:ext cx="4023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B54D"/>
            </a:solidFill>
            <a:prstDash val="solid"/>
          </a:ln>
          <a:effectLst>
            <a:outerShdw sx="100000" sy="100000" kx="0" ky="0" algn="bl" rotWithShape="0" blurRad="101600" dist="25400" dir="5400000">
              <a:srgbClr val="0B223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7180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285232" y="2953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伪标签半监督  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（半监督）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493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Mean Teacher（EMA），3模型共识像素做伪标签，免费吃进1278 pool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B5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论文核心创新点 +5~15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V10 学术创新：人机协同标注闭环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0B2239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10515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Pool 1278 未标注样本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664208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664208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05740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B0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057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3模型分歧大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(epistemic 不确定)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05740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1C9B6C"/>
          </a:solidFill>
          <a:ln/>
        </p:spPr>
      </p:sp>
      <p:sp>
        <p:nvSpPr>
          <p:cNvPr id="15" name="Text 13"/>
          <p:cNvSpPr/>
          <p:nvPr/>
        </p:nvSpPr>
        <p:spPr>
          <a:xfrm>
            <a:off x="5422392" y="20574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3模型一致 + 高置信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(模型们都确定)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E8B54D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" y="301752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30个 → 人工标注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(最大化标注价值)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3017520"/>
            <a:ext cx="2834640" cy="685800"/>
          </a:xfrm>
          <a:prstGeom prst="roundRect">
            <a:avLst>
              <a:gd name="adj" fmla="val 12000"/>
            </a:avLst>
          </a:prstGeom>
          <a:solidFill>
            <a:srgbClr val="17BEBB"/>
          </a:solidFill>
          <a:ln/>
        </p:spPr>
      </p:sp>
      <p:sp>
        <p:nvSpPr>
          <p:cNvPr id="19" name="Text 17"/>
          <p:cNvSpPr/>
          <p:nvPr/>
        </p:nvSpPr>
        <p:spPr>
          <a:xfrm>
            <a:off x="5422392" y="3017520"/>
            <a:ext cx="2779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N个 → 自动伪标签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(免费扩训)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2852928"/>
            <a:ext cx="237744" cy="1828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2852928"/>
            <a:ext cx="237744" cy="18288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3886200"/>
            <a:ext cx="2377440" cy="5486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3886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下一轮训练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15968" y="4434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分歧→人标  /  一致→机标：在 225 已精修 vs 1278 未标注 下最大化标注预算效率，可迁移至遥感/医学等标注稀缺场景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V10 预期收益与实施计划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青藏高原湿地语义分割 · 主动学习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预期收益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背景负标签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mIoU +10~20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90° 旋转增强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mIoU +1~3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伪标签半监督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mIoU +5~15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3模型集成 AL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间接（v11 受益）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标注与训练任务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00600" y="137160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 v9 Top-30（常规正例多边形）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标注背景负标签 30~50 张（全要素稠密）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v10 单模型训练（约 1 小时）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模型集成 + 分歧打分（约 1.5 小时）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伪标签加入再训（约 1~2 小时）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37033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EAF4F4"/>
          </a:solidFill>
          <a:ln w="15240">
            <a:solidFill>
              <a:srgbClr val="17BE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3703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硬件保障：  </a:t>
            </a:r>
            <a:pPr algn="l"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服务器 2×RTX 4090 24GB，训练从数小时缩至分钟级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2560320" cy="256032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731520"/>
            <a:ext cx="2194560" cy="2194560"/>
          </a:xfrm>
          <a:prstGeom prst="ellipse">
            <a:avLst/>
          </a:prstGeom>
          <a:solidFill>
            <a:srgbClr val="17BEBB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BE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核心成果  </a:t>
            </a:r>
            <a:endParaRPr lang="en-US" sz="15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E8EE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v9（服务器双4090）：Test OA 92.21% / Test mIoU 50.40%，较 v8 提升 +25.1 / +28.1 pt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BE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方法创新  </a:t>
            </a:r>
            <a:endParaRPr lang="en-US" sz="15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E8EE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四象限策略 + 主动学习闭环，以及 V10 即将落地的“人机协同标注”框架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BE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  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V10：背景负标签 + 90°旋转 + 3模型集成 AL + 伪标签半监督，持续向论文目标推进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206240"/>
            <a:ext cx="2743200" cy="36576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谢谢聆听，请批评指正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青藏高原湿地语义分割研究进展</dc:title>
  <dc:subject>PptxGenJS Presentation</dc:subject>
  <dc:creator>XINYU WANG</dc:creator>
  <cp:lastModifiedBy>XINYU WANG</cp:lastModifiedBy>
  <cp:revision>1</cp:revision>
  <dcterms:created xsi:type="dcterms:W3CDTF">2026-07-31T08:40:49Z</dcterms:created>
  <dcterms:modified xsi:type="dcterms:W3CDTF">2026-07-31T08:40:49Z</dcterms:modified>
</cp:coreProperties>
</file>