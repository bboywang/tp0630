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v7 (3050)</c:v>
                </c:pt>
              </c:strCache>
            </c:strRef>
          </c:tx>
          <c:spPr>
            <a:solidFill>
              <a:srgbClr val="B7C7C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Val OA</c:v>
                  </c:pt>
                  <c:pt idx="1">
                    <c:v>Val mIoU</c:v>
                  </c:pt>
                  <c:pt idx="2">
                    <c:v>Test OA</c:v>
                  </c:pt>
                  <c:pt idx="3">
                    <c:v>Test mIoU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90.41</c:v>
                </c:pt>
                <c:pt idx="1">
                  <c:v>35.45</c:v>
                </c:pt>
                <c:pt idx="2">
                  <c:v>70.65</c:v>
                </c:pt>
                <c:pt idx="3">
                  <c:v>24.67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v8 (3050)</c:v>
                </c:pt>
              </c:strCache>
            </c:strRef>
          </c:tx>
          <c:spPr>
            <a:solidFill>
              <a:srgbClr val="5C8A9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Val OA</c:v>
                  </c:pt>
                  <c:pt idx="1">
                    <c:v>Val mIoU</c:v>
                  </c:pt>
                  <c:pt idx="2">
                    <c:v>Test OA</c:v>
                  </c:pt>
                  <c:pt idx="3">
                    <c:v>Test mIoU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85.38</c:v>
                </c:pt>
                <c:pt idx="1">
                  <c:v>29.68</c:v>
                </c:pt>
                <c:pt idx="2">
                  <c:v>67.07</c:v>
                </c:pt>
                <c:pt idx="3">
                  <c:v>22.28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v9 (4090)</c:v>
                </c:pt>
              </c:strCache>
            </c:strRef>
          </c:tx>
          <c:spPr>
            <a:solidFill>
              <a:srgbClr val="065A8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Val OA</c:v>
                  </c:pt>
                  <c:pt idx="1">
                    <c:v>Val mIoU</c:v>
                  </c:pt>
                  <c:pt idx="2">
                    <c:v>Test OA</c:v>
                  </c:pt>
                  <c:pt idx="3">
                    <c:v>Test mIoU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92.75</c:v>
                </c:pt>
                <c:pt idx="1">
                  <c:v>47.76</c:v>
                </c:pt>
                <c:pt idx="2">
                  <c:v>92.21</c:v>
                </c:pt>
                <c:pt idx="3">
                  <c:v>50.4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F2A33"/>
              </a:solidFill>
              <a:latin typeface="微软雅黑"/>
              <a:cs typeface="微软雅黑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2926080"/>
            <a:ext cx="3108960" cy="310896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680960" y="2011680"/>
            <a:ext cx="2011680" cy="2011680"/>
          </a:xfrm>
          <a:prstGeom prst="ellipse">
            <a:avLst/>
          </a:prstGeom>
          <a:solidFill>
            <a:srgbClr val="17BEBB">
              <a:alpha val="3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6035040" y="3931920"/>
            <a:ext cx="1371600" cy="137160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417320"/>
            <a:ext cx="146304" cy="1828800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417320"/>
            <a:ext cx="7589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60120" y="2395728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17BEB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主动学习驱动的小样本语义分割研究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06324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v4 → v9 进展汇报   ·   V10 实验方案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960120" y="41605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8FA8B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汇报人：XINYU WANG      单位：中国科学院大学（UCAS）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49884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2026-07-31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研究背景与任务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515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任务目标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02920" y="141732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对青藏高原 2020 年多源遥感影像进行湿地类型语义分割</a:t>
            </a:r>
            <a:endParaRPr lang="en-US" sz="12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类目标：湿地 / 水体 / 湖泊（背景未标注，置为忽略）</a:t>
            </a:r>
            <a:endParaRPr lang="en-US" sz="1250" dirty="0"/>
          </a:p>
          <a:p>
            <a:pPr algn="l" marL="342900" indent="-342900">
              <a:buSzPct val="100000"/>
              <a:buChar char="•"/>
            </a:pPr>
            <a:r>
              <a:rPr lang="en-US" sz="12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参考 Niu et al. 2025 ESSD，改造为 LabelMe JSON 多边形标注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28803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核心挑战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324612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标注成本高：人工多边形标注耗时费力</a:t>
            </a:r>
            <a:endParaRPr lang="en-US" sz="12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数据不平衡：仅 147 已标注，1278 未标注待利用</a:t>
            </a:r>
            <a:endParaRPr lang="en-US" sz="1250" dirty="0"/>
          </a:p>
          <a:p>
            <a:pPr algn="l" marL="342900" indent="-342900">
              <a:buSzPct val="100000"/>
              <a:buChar char="•"/>
            </a:pPr>
            <a:r>
              <a:rPr lang="en-US" sz="12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早期硬件受限：RTX 3050 4GB 显存制约训练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532120" y="105156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623560" y="1161288"/>
            <a:ext cx="13533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623560" y="1629918"/>
            <a:ext cx="1353312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影像总数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512×512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150608" y="105156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242048" y="1161288"/>
            <a:ext cx="13533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242048" y="1629918"/>
            <a:ext cx="1353312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输入波段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S2+S1+地形+指数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32120" y="224028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623560" y="2350008"/>
            <a:ext cx="13533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7BEB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147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623560" y="2818638"/>
            <a:ext cx="1353312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已标注样本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150608" y="2240280"/>
            <a:ext cx="1536192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242048" y="2350008"/>
            <a:ext cx="1353312" cy="5257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B5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1278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242048" y="2818638"/>
            <a:ext cx="1353312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未标注 pool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532120" y="35204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主动学习核心命题：以最少人工标注，最大化模型分割精度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数据资源：30 波段多源遥感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31520"/>
                <a:gridCol w="2011680"/>
                <a:gridCol w="5486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数据源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波段数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明细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保留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Sentinel-2 光学（E+L 双时相）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blue / green / red / nir / swir1 / swir2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9B6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光谱指数（E+L 双时相）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NDVI / NDWI / MNDWI / EVI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9B6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地形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DEM / SLOPE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9B6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Sentinel-1 SAR（E+L 双时相）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VV / VH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C9B6C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✓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计数质量层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S2CNT / S1CNT（E/L）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✗ 丢弃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63640" y="1051560"/>
            <a:ext cx="2468880" cy="2331720"/>
          </a:xfrm>
          <a:prstGeom prst="roundRect">
            <a:avLst>
              <a:gd name="adj" fmla="val 3137"/>
            </a:avLst>
          </a:prstGeom>
          <a:solidFill>
            <a:srgbClr val="EAF4F4"/>
          </a:solidFill>
          <a:ln w="15240">
            <a:solidFill>
              <a:srgbClr val="17BEB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0" y="11887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波段分析关键发现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0" y="1572768"/>
            <a:ext cx="21945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NDVI / NDWI / MNDWI / EVI 指数已预计算</a:t>
            </a:r>
            <a:endParaRPr lang="en-US" sz="1050" dirty="0"/>
          </a:p>
          <a:p>
            <a:pPr algn="l"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双时相（E+L）共 8 个指数波段，已在 26 输入通道内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无需额外构建指数通道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57200" y="3611880"/>
            <a:ext cx="827532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85800" y="361188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数据结构：  </a:t>
            </a:r>
            <a:pPr algn="l" indent="0" marL="0">
              <a:buNone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1504 个 512×512 TIFF（30→26 波段，Sentinel-2 + Sentinel-1 + 地形）｜标注：LabelMe JSON 多边形稀疏正例｜未标注背景 = -1 忽略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核心方法：四象限策略 + 主动学习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0584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四象限策略（关键创新）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02920" y="1335024"/>
            <a:ext cx="4389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512×512 大图 → 4 个不重叠 256×256 象限</a:t>
            </a:r>
            <a:endParaRPr lang="en-US" sz="1150" dirty="0"/>
          </a:p>
          <a:p>
            <a:pPr algn="l"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克服随机裁剪丢失 75% 信息的问题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OA 从 ~60% 跃升至 ~90%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166360" y="1024128"/>
            <a:ext cx="16916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84648" y="1042416"/>
            <a:ext cx="809244" cy="809244"/>
          </a:xfrm>
          <a:prstGeom prst="rect">
            <a:avLst/>
          </a:prstGeom>
          <a:solidFill>
            <a:srgbClr val="A7D3E0"/>
          </a:solidFill>
          <a:ln/>
        </p:spPr>
      </p:sp>
      <p:sp>
        <p:nvSpPr>
          <p:cNvPr id="12" name="Text 10"/>
          <p:cNvSpPr/>
          <p:nvPr/>
        </p:nvSpPr>
        <p:spPr>
          <a:xfrm>
            <a:off x="5184648" y="1042416"/>
            <a:ext cx="809244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象限0 左上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30468" y="1042416"/>
            <a:ext cx="809244" cy="80924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14" name="Text 12"/>
          <p:cNvSpPr/>
          <p:nvPr/>
        </p:nvSpPr>
        <p:spPr>
          <a:xfrm>
            <a:off x="6030468" y="1042416"/>
            <a:ext cx="809244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象限1 右上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184648" y="1888236"/>
            <a:ext cx="809244" cy="809244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5184648" y="1888236"/>
            <a:ext cx="809244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象限2 左下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030468" y="1888236"/>
            <a:ext cx="809244" cy="809244"/>
          </a:xfrm>
          <a:prstGeom prst="rect">
            <a:avLst/>
          </a:prstGeom>
          <a:solidFill>
            <a:srgbClr val="A7D3E0"/>
          </a:solidFill>
          <a:ln/>
        </p:spPr>
      </p:sp>
      <p:sp>
        <p:nvSpPr>
          <p:cNvPr id="18" name="Text 16"/>
          <p:cNvSpPr/>
          <p:nvPr/>
        </p:nvSpPr>
        <p:spPr>
          <a:xfrm>
            <a:off x="6030468" y="1888236"/>
            <a:ext cx="809244" cy="8092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象限3 右下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029200" y="2761488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512×512 → 4×256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880360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主动学习闭环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1417320" cy="658368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" y="3310128"/>
            <a:ext cx="1362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监督训练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920240" y="3529584"/>
            <a:ext cx="292608" cy="21945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4" name="Shape 22"/>
          <p:cNvSpPr/>
          <p:nvPr/>
        </p:nvSpPr>
        <p:spPr>
          <a:xfrm>
            <a:off x="2258568" y="3310128"/>
            <a:ext cx="1417320" cy="658368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/>
        </p:spPr>
      </p:sp>
      <p:sp>
        <p:nvSpPr>
          <p:cNvPr id="25" name="Text 23"/>
          <p:cNvSpPr/>
          <p:nvPr/>
        </p:nvSpPr>
        <p:spPr>
          <a:xfrm>
            <a:off x="2286000" y="3310128"/>
            <a:ext cx="1362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不确定性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打分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721608" y="3529584"/>
            <a:ext cx="292608" cy="21945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27" name="Shape 25"/>
          <p:cNvSpPr/>
          <p:nvPr/>
        </p:nvSpPr>
        <p:spPr>
          <a:xfrm>
            <a:off x="4059936" y="3310128"/>
            <a:ext cx="1417320" cy="658368"/>
          </a:xfrm>
          <a:prstGeom prst="roundRect">
            <a:avLst>
              <a:gd name="adj" fmla="val 12500"/>
            </a:avLst>
          </a:prstGeom>
          <a:solidFill>
            <a:srgbClr val="17BEBB"/>
          </a:solidFill>
          <a:ln/>
        </p:spPr>
      </p:sp>
      <p:sp>
        <p:nvSpPr>
          <p:cNvPr id="28" name="Text 26"/>
          <p:cNvSpPr/>
          <p:nvPr/>
        </p:nvSpPr>
        <p:spPr>
          <a:xfrm>
            <a:off x="4087368" y="3310128"/>
            <a:ext cx="1362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选 Top-30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522976" y="3529584"/>
            <a:ext cx="292608" cy="21945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30" name="Shape 28"/>
          <p:cNvSpPr/>
          <p:nvPr/>
        </p:nvSpPr>
        <p:spPr>
          <a:xfrm>
            <a:off x="5861304" y="3310128"/>
            <a:ext cx="1417320" cy="658368"/>
          </a:xfrm>
          <a:prstGeom prst="roundRect">
            <a:avLst>
              <a:gd name="adj" fmla="val 12500"/>
            </a:avLst>
          </a:prstGeom>
          <a:solidFill>
            <a:srgbClr val="E8B54D"/>
          </a:solidFill>
          <a:ln/>
        </p:spPr>
      </p:sp>
      <p:sp>
        <p:nvSpPr>
          <p:cNvPr id="31" name="Text 29"/>
          <p:cNvSpPr/>
          <p:nvPr/>
        </p:nvSpPr>
        <p:spPr>
          <a:xfrm>
            <a:off x="5888736" y="3310128"/>
            <a:ext cx="1362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人工标注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324344" y="3529584"/>
            <a:ext cx="292608" cy="219456"/>
          </a:xfrm>
          <a:prstGeom prst="rightArrow">
            <a:avLst/>
          </a:prstGeom>
          <a:solidFill>
            <a:srgbClr val="64748B"/>
          </a:solidFill>
          <a:ln/>
        </p:spPr>
      </p:sp>
      <p:sp>
        <p:nvSpPr>
          <p:cNvPr id="33" name="Shape 31"/>
          <p:cNvSpPr/>
          <p:nvPr/>
        </p:nvSpPr>
        <p:spPr>
          <a:xfrm>
            <a:off x="7662672" y="3310128"/>
            <a:ext cx="1417320" cy="658368"/>
          </a:xfrm>
          <a:prstGeom prst="roundRect">
            <a:avLst>
              <a:gd name="adj" fmla="val 12500"/>
            </a:avLst>
          </a:prstGeom>
          <a:solidFill>
            <a:srgbClr val="065A82"/>
          </a:solidFill>
          <a:ln/>
        </p:spPr>
      </p:sp>
      <p:sp>
        <p:nvSpPr>
          <p:cNvPr id="34" name="Text 32"/>
          <p:cNvSpPr/>
          <p:nvPr/>
        </p:nvSpPr>
        <p:spPr>
          <a:xfrm>
            <a:off x="7690104" y="3310128"/>
            <a:ext cx="13624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加入训练集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89320" y="40416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↺ 迭代循环，每轮约 30 个样本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技术演进：从失败探索到服务器迁移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600200"/>
            <a:ext cx="8046720" cy="45720"/>
          </a:xfrm>
          <a:prstGeom prst="rect">
            <a:avLst/>
          </a:prstGeom>
          <a:solidFill>
            <a:srgbClr val="D8E2EA"/>
          </a:solidFill>
          <a:ln/>
        </p:spPr>
      </p:sp>
      <p:sp>
        <p:nvSpPr>
          <p:cNvPr id="9" name="Shape 7"/>
          <p:cNvSpPr/>
          <p:nvPr/>
        </p:nvSpPr>
        <p:spPr>
          <a:xfrm>
            <a:off x="868680" y="1481328"/>
            <a:ext cx="292608" cy="292608"/>
          </a:xfrm>
          <a:prstGeom prst="ellipse">
            <a:avLst/>
          </a:prstGeom>
          <a:solidFill>
            <a:srgbClr val="B03A2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09728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3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v4~v6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28600" y="1938528"/>
            <a:ext cx="1572768" cy="237744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B03A2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0040" y="2066544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03A2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探索失败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" y="2395728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随机裁剪 / Z-score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不收敛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3310128"/>
            <a:ext cx="1389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教训：per-chip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Min-Max 归一化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88920" y="1481328"/>
            <a:ext cx="292608" cy="292608"/>
          </a:xfrm>
          <a:prstGeom prst="ellipse">
            <a:avLst/>
          </a:prstGeom>
          <a:solidFill>
            <a:srgbClr val="B9770E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331720" y="109728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977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v7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148840" y="1938528"/>
            <a:ext cx="1572768" cy="237744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B9770E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2240280" y="2066544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9770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四象限突破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40280" y="2395728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OA 90.4%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240280" y="3310128"/>
            <a:ext cx="1389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但 Test 含弱标签</a:t>
            </a:r>
            <a:endParaRPr lang="en-US" sz="9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分数不可靠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892040" y="1481328"/>
            <a:ext cx="292608" cy="292608"/>
          </a:xfrm>
          <a:prstGeom prst="ellipse">
            <a:avLst/>
          </a:prstGeom>
          <a:solidFill>
            <a:srgbClr val="1C729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34840" y="109728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v8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51960" y="1938528"/>
            <a:ext cx="1572768" cy="237744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343400" y="2066544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基准建立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343400" y="2395728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修正 Test=30人标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Val OA 85.4%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43400" y="3310128"/>
            <a:ext cx="1389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发现 bs=2 震荡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95160" y="1481328"/>
            <a:ext cx="292608" cy="292608"/>
          </a:xfrm>
          <a:prstGeom prst="ellipse">
            <a:avLst/>
          </a:prstGeom>
          <a:solidFill>
            <a:srgbClr val="065A8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37960" y="1097280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v9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355080" y="1938528"/>
            <a:ext cx="1572768" cy="2377440"/>
          </a:xfrm>
          <a:prstGeom prst="roundRect">
            <a:avLst>
              <a:gd name="adj" fmla="val 3488"/>
            </a:avLst>
          </a:prstGeom>
          <a:solidFill>
            <a:srgbClr val="FFFFFF"/>
          </a:solidFill>
          <a:ln w="15240">
            <a:solidFill>
              <a:srgbClr val="065A82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46520" y="2066544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服务器迁移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446520" y="2395728"/>
            <a:ext cx="13898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batch16+Dice+EMA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Test OA 92.2%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3310128"/>
            <a:ext cx="13898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全面大幅超越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核心结果：v9 全面大幅超越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" y="1005840"/>
          <a:ext cx="5212080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852160" y="1097280"/>
            <a:ext cx="28346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5943600" y="120700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92.21%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5943600" y="1952244"/>
            <a:ext cx="2651760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Test OA（+25.1pt vs v8）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852160" y="2788920"/>
            <a:ext cx="28346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943600" y="2898648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8B5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50.40%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5943600" y="3643884"/>
            <a:ext cx="2651760" cy="559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Test mIoU（+28.1pt vs v8）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852160" y="44348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注：Test 集与 v8 逐样本一致，指标可直接对比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v9 训练：硬件解锁的疗效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42976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参数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v8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v9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batch size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7BEB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Loss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仅 CE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17BEBB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CE + Dice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base_ch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 (3.3M)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64 (13.2M)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学习率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重启式 Cosine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warmup→平滑 Cosine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EMA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无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0.999 双分支择优</a:t>
                      </a:r>
                      <a:endParaRPr lang="en-US" sz="10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029200" y="10515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训练要点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074920" y="1389888"/>
            <a:ext cx="3611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曲线平稳零震荡（v8 曾在 16%~85% 狂跳）</a:t>
            </a:r>
            <a:endParaRPr lang="en-US" sz="11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最佳在 E37（raw 分支），E57 早停</a:t>
            </a:r>
            <a:endParaRPr lang="en-US" sz="1150" dirty="0"/>
          </a:p>
          <a:p>
            <a:pPr algn="l"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EMA 后期波动未胜 raw，v10 调参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提升主因 = batch16 + CE+Dice（非模型变宽）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029200" y="3520440"/>
            <a:ext cx="3657600" cy="1051560"/>
          </a:xfrm>
          <a:prstGeom prst="roundRect">
            <a:avLst>
              <a:gd name="adj" fmla="val 5217"/>
            </a:avLst>
          </a:prstGeom>
          <a:solidFill>
            <a:srgbClr val="EAF4F4"/>
          </a:solidFill>
          <a:ln w="15240">
            <a:solidFill>
              <a:srgbClr val="17BEB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212080" y="35204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v9 Top-30 不确定分数峰值 </a:t>
            </a:r>
            <a:pPr algn="l" indent="0" marL="0">
              <a:buNone/>
            </a:pPr>
            <a:r>
              <a:rPr lang="en-US" sz="1500" b="1" dirty="0">
                <a:solidFill>
                  <a:srgbClr val="E8B5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0.53</a:t>
            </a:r>
            <a:pPr algn="l"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（v8 为 0.82）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模型整体自信度大幅提高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关键经验教训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1124712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124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52144" y="1097280"/>
            <a:ext cx="7351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Per-chip Min-Max &gt; Z-score  </a:t>
            </a:r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归一化方式决定能否收敛（稀疏正例标注下 Z-score 失效）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1810512"/>
            <a:ext cx="402336" cy="402336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18105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52144" y="1783080"/>
            <a:ext cx="7351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四象限 &gt; 随机裁剪  </a:t>
            </a:r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512→4×256 是突破性创新，Val OA 60%→90%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2496312"/>
            <a:ext cx="402336" cy="402336"/>
          </a:xfrm>
          <a:prstGeom prst="ellipse">
            <a:avLst/>
          </a:prstGeom>
          <a:solidFill>
            <a:srgbClr val="17BEB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4963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52144" y="2468880"/>
            <a:ext cx="7351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batch16 + CE+Dice 治震荡  </a:t>
            </a:r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bs=2 梯度噪声是 v8 OA 狂跳的病根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40080" y="3182112"/>
            <a:ext cx="402336" cy="402336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1821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152144" y="3154680"/>
            <a:ext cx="7351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Test 必须固定人标  </a:t>
            </a:r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混入弱标签导致分数虚高，无法真实评估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3867912"/>
            <a:ext cx="402336" cy="402336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8679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52144" y="3840480"/>
            <a:ext cx="7351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数据+方法红利 &gt; 架构宽度  </a:t>
            </a:r>
            <a:pPr algn="l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v9 提升主因是 batch 和 loss，而非模型变大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V10 实验方案：四大改动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097280"/>
            <a:ext cx="4023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65A82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85800" y="12344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61872" y="1216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背景负标签  </a:t>
            </a:r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（标签体系升级）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175564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新增第4类“背景”，30~50张全要素稠密标注，直击 mIoU 瓶颈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3152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预期 mIoU +10~20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0" y="1097280"/>
            <a:ext cx="4023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2344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6" name="Text 14"/>
          <p:cNvSpPr/>
          <p:nvPr/>
        </p:nvSpPr>
        <p:spPr>
          <a:xfrm>
            <a:off x="470916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285232" y="121615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90° 旋转增强  </a:t>
            </a:r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（数据增强）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175564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覆盖 D4 对称群（8种朝向），遥感定向不变性先验，零成本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754880" y="23591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C729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预期 mIoU +1~3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2834640"/>
            <a:ext cx="4023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7BEBB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85800" y="2971800"/>
            <a:ext cx="457200" cy="457200"/>
          </a:xfrm>
          <a:prstGeom prst="ellipse">
            <a:avLst/>
          </a:prstGeom>
          <a:solidFill>
            <a:srgbClr val="17BEB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61872" y="2953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3模型分歧采样  </a:t>
            </a:r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（主动学习升级）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31520" y="34930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集成分歧抓“认知不确定”，优于单模型 Margin，是 AL gold standard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31520" y="4096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BEB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论文核心创新点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572000" y="2834640"/>
            <a:ext cx="4023360" cy="1600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E8B54D"/>
            </a:solidFill>
            <a:prstDash val="solid"/>
          </a:ln>
          <a:effectLst>
            <a:outerShdw sx="100000" sy="100000" kx="0" ky="0" algn="bl" rotWithShape="0" blurRad="101600" dist="25400" dir="5400000">
              <a:srgbClr val="0B2239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709160" y="2971800"/>
            <a:ext cx="457200" cy="457200"/>
          </a:xfrm>
          <a:prstGeom prst="ellipse">
            <a:avLst/>
          </a:prstGeom>
          <a:solidFill>
            <a:srgbClr val="E8B54D"/>
          </a:solidFill>
          <a:ln/>
        </p:spPr>
      </p:sp>
      <p:sp>
        <p:nvSpPr>
          <p:cNvPr id="28" name="Text 26"/>
          <p:cNvSpPr/>
          <p:nvPr/>
        </p:nvSpPr>
        <p:spPr>
          <a:xfrm>
            <a:off x="470916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④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5285232" y="295351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伪标签半监督  </a:t>
            </a:r>
            <a:pPr algn="l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（半监督）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754880" y="349300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Mean Teacher（EMA），3模型共识像素做伪标签，免费吃进1278 pool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754880" y="4096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E8B54D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论文核心创新点 +5~15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V10 学术创新：人机协同标注闭环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09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383280" y="1051560"/>
            <a:ext cx="2377440" cy="548640"/>
          </a:xfrm>
          <a:prstGeom prst="roundRect">
            <a:avLst>
              <a:gd name="adj" fmla="val 15000"/>
            </a:avLst>
          </a:prstGeom>
          <a:solidFill>
            <a:srgbClr val="0B2239"/>
          </a:solidFill>
          <a:ln/>
        </p:spPr>
      </p:sp>
      <p:sp>
        <p:nvSpPr>
          <p:cNvPr id="9" name="Text 7"/>
          <p:cNvSpPr/>
          <p:nvPr/>
        </p:nvSpPr>
        <p:spPr>
          <a:xfrm>
            <a:off x="3410712" y="105156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Pool 1278 未标注样本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788920" y="1664208"/>
            <a:ext cx="274320" cy="320040"/>
          </a:xfrm>
          <a:prstGeom prst="downArrow">
            <a:avLst/>
          </a:prstGeom>
          <a:solidFill>
            <a:srgbClr val="64748B"/>
          </a:solidFill>
          <a:ln/>
        </p:spPr>
      </p:sp>
      <p:sp>
        <p:nvSpPr>
          <p:cNvPr id="11" name="Shape 9"/>
          <p:cNvSpPr/>
          <p:nvPr/>
        </p:nvSpPr>
        <p:spPr>
          <a:xfrm>
            <a:off x="6080760" y="1664208"/>
            <a:ext cx="274320" cy="320040"/>
          </a:xfrm>
          <a:prstGeom prst="downArrow">
            <a:avLst/>
          </a:prstGeom>
          <a:solidFill>
            <a:srgbClr val="64748B"/>
          </a:solidFill>
          <a:ln/>
        </p:spPr>
      </p:sp>
      <p:sp>
        <p:nvSpPr>
          <p:cNvPr id="12" name="Shape 10"/>
          <p:cNvSpPr/>
          <p:nvPr/>
        </p:nvSpPr>
        <p:spPr>
          <a:xfrm>
            <a:off x="914400" y="2057400"/>
            <a:ext cx="2834640" cy="777240"/>
          </a:xfrm>
          <a:prstGeom prst="roundRect">
            <a:avLst>
              <a:gd name="adj" fmla="val 10588"/>
            </a:avLst>
          </a:prstGeom>
          <a:solidFill>
            <a:srgbClr val="B03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41832" y="2057400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3模型分歧大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(epistemic 不确定)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94960" y="2057400"/>
            <a:ext cx="2834640" cy="777240"/>
          </a:xfrm>
          <a:prstGeom prst="roundRect">
            <a:avLst>
              <a:gd name="adj" fmla="val 10588"/>
            </a:avLst>
          </a:prstGeom>
          <a:solidFill>
            <a:srgbClr val="1C9B6C"/>
          </a:solidFill>
          <a:ln/>
        </p:spPr>
      </p:sp>
      <p:sp>
        <p:nvSpPr>
          <p:cNvPr id="15" name="Text 13"/>
          <p:cNvSpPr/>
          <p:nvPr/>
        </p:nvSpPr>
        <p:spPr>
          <a:xfrm>
            <a:off x="5422392" y="2057400"/>
            <a:ext cx="2779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3模型一致 + 高置信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(模型们都确定)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4400" y="3017520"/>
            <a:ext cx="2834640" cy="685800"/>
          </a:xfrm>
          <a:prstGeom prst="roundRect">
            <a:avLst>
              <a:gd name="adj" fmla="val 12000"/>
            </a:avLst>
          </a:prstGeom>
          <a:solidFill>
            <a:srgbClr val="E8B54D"/>
          </a:solidFill>
          <a:ln/>
        </p:spPr>
      </p:sp>
      <p:sp>
        <p:nvSpPr>
          <p:cNvPr id="17" name="Text 15"/>
          <p:cNvSpPr/>
          <p:nvPr/>
        </p:nvSpPr>
        <p:spPr>
          <a:xfrm>
            <a:off x="941832" y="3017520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30个 → 人工标注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(最大化标注价值)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394960" y="3017520"/>
            <a:ext cx="2834640" cy="685800"/>
          </a:xfrm>
          <a:prstGeom prst="roundRect">
            <a:avLst>
              <a:gd name="adj" fmla="val 12000"/>
            </a:avLst>
          </a:prstGeom>
          <a:solidFill>
            <a:srgbClr val="17BEBB"/>
          </a:solidFill>
          <a:ln/>
        </p:spPr>
      </p:sp>
      <p:sp>
        <p:nvSpPr>
          <p:cNvPr id="19" name="Text 17"/>
          <p:cNvSpPr/>
          <p:nvPr/>
        </p:nvSpPr>
        <p:spPr>
          <a:xfrm>
            <a:off x="5422392" y="3017520"/>
            <a:ext cx="27797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N个 → 自动伪标签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(免费扩训)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48840" y="2852928"/>
            <a:ext cx="237744" cy="182880"/>
          </a:xfrm>
          <a:prstGeom prst="downArrow">
            <a:avLst/>
          </a:prstGeom>
          <a:solidFill>
            <a:srgbClr val="64748B"/>
          </a:solidFill>
          <a:ln/>
        </p:spPr>
      </p:sp>
      <p:sp>
        <p:nvSpPr>
          <p:cNvPr id="21" name="Shape 19"/>
          <p:cNvSpPr/>
          <p:nvPr/>
        </p:nvSpPr>
        <p:spPr>
          <a:xfrm>
            <a:off x="6629400" y="2852928"/>
            <a:ext cx="237744" cy="182880"/>
          </a:xfrm>
          <a:prstGeom prst="downArrow">
            <a:avLst/>
          </a:prstGeom>
          <a:solidFill>
            <a:srgbClr val="64748B"/>
          </a:solidFill>
          <a:ln/>
        </p:spPr>
      </p:sp>
      <p:sp>
        <p:nvSpPr>
          <p:cNvPr id="22" name="Shape 20"/>
          <p:cNvSpPr/>
          <p:nvPr/>
        </p:nvSpPr>
        <p:spPr>
          <a:xfrm>
            <a:off x="3383280" y="3886200"/>
            <a:ext cx="2377440" cy="548640"/>
          </a:xfrm>
          <a:prstGeom prst="roundRect">
            <a:avLst>
              <a:gd name="adj" fmla="val 15000"/>
            </a:avLst>
          </a:prstGeom>
          <a:solidFill>
            <a:srgbClr val="065A82"/>
          </a:solidFill>
          <a:ln/>
        </p:spPr>
      </p:sp>
      <p:sp>
        <p:nvSpPr>
          <p:cNvPr id="23" name="Text 21"/>
          <p:cNvSpPr/>
          <p:nvPr/>
        </p:nvSpPr>
        <p:spPr>
          <a:xfrm>
            <a:off x="3410712" y="3886200"/>
            <a:ext cx="23225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下一轮训练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315968" y="4434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↺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4553712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分歧→人标  /  一致→机标：在 147 标注 vs 1278 未标注 下最大化标注预算效率，可迁移至遥感/医学等标注稀缺场景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822960"/>
            <a:ext cx="9144000" cy="54864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8016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V10 预期收益与实施计划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0" y="18288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482803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青藏高原湿地语义分割 · 主动学习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229600" y="482803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0241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预期收益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3931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92024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改动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预期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背景负标签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65A82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mIoU +10~20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90° 旋转增强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mIoU +1~3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伪标签半监督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mIoU +5~15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3模型集成 AL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A33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间接（v11 受益）</a:t>
                      </a:r>
                      <a:endParaRPr lang="en-US" sz="11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E2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4754880" y="10241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标注与训练任务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800600" y="1371600"/>
            <a:ext cx="3886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 v9 Top-30（常规正例多边形）</a:t>
            </a:r>
            <a:endParaRPr lang="en-US" sz="11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标注背景负标签 30~50 张（全要素稠密）</a:t>
            </a:r>
            <a:endParaRPr lang="en-US" sz="11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v10 单模型训练（约 1 小时）</a:t>
            </a:r>
            <a:endParaRPr lang="en-US" sz="115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 模型集成 + 分歧打分（约 1.5 小时）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伪标签加入再训（约 1~2 小时）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754880" y="3703320"/>
            <a:ext cx="3931920" cy="868680"/>
          </a:xfrm>
          <a:prstGeom prst="roundRect">
            <a:avLst>
              <a:gd name="adj" fmla="val 6316"/>
            </a:avLst>
          </a:prstGeom>
          <a:solidFill>
            <a:srgbClr val="EAF4F4"/>
          </a:solidFill>
          <a:ln w="15240">
            <a:solidFill>
              <a:srgbClr val="17BEB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37760" y="37033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硬件保障：  </a:t>
            </a:r>
            <a:pPr algn="l" indent="0" marL="0">
              <a:buNone/>
            </a:pPr>
            <a:r>
              <a:rPr lang="en-US" sz="1050" dirty="0">
                <a:solidFill>
                  <a:srgbClr val="1F2A3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服务器 2×RTX 4090 24GB，训练从数小时缩至分钟级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91840"/>
            <a:ext cx="2560320" cy="256032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589520" y="-731520"/>
            <a:ext cx="2194560" cy="2194560"/>
          </a:xfrm>
          <a:prstGeom prst="ellipse">
            <a:avLst/>
          </a:prstGeom>
          <a:solidFill>
            <a:srgbClr val="17BEB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5486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总结与展望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1371600"/>
            <a:ext cx="75895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BEB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核心成果  </a:t>
            </a:r>
            <a:endParaRPr lang="en-US" sz="15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E8EEF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v9（服务器双4090）：Test OA 92.21% / Test mIoU 50.40%，较 v8 提升 +25.1 / +28.1 pt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7BEB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方法创新  </a:t>
            </a:r>
            <a:endParaRPr lang="en-US" sz="15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300" dirty="0">
                <a:solidFill>
                  <a:srgbClr val="E8EEF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四象限策略 + 主动学习闭环，以及 V10 即将落地的“人机协同标注”框架</a:t>
            </a:r>
            <a:endParaRPr lang="en-US" sz="1500" dirty="0"/>
          </a:p>
          <a:p>
            <a:pPr algn="l" indent="0" marL="0">
              <a:buNone/>
            </a:pPr>
            <a:r>
              <a:rPr lang="en-US" sz="1500" b="1" dirty="0">
                <a:solidFill>
                  <a:srgbClr val="17BEB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下一步  </a:t>
            </a:r>
            <a:endParaRPr lang="en-US" sz="15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E8EEF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V10：背景负标签 + 90°旋转 + 3模型集成 AL + 伪标签半监督，持续向论文目标推进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206240"/>
            <a:ext cx="2743200" cy="36576"/>
          </a:xfrm>
          <a:prstGeom prst="rect">
            <a:avLst/>
          </a:prstGeom>
          <a:solidFill>
            <a:srgbClr val="17BEB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4315968"/>
            <a:ext cx="7589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谢谢聆听，请批评指正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青藏高原湿地语义分割研究进展</dc:title>
  <dc:subject>PptxGenJS Presentation</dc:subject>
  <dc:creator>XINYU WANG</dc:creator>
  <cp:lastModifiedBy>XINYU WANG</cp:lastModifiedBy>
  <cp:revision>1</cp:revision>
  <dcterms:created xsi:type="dcterms:W3CDTF">2026-07-31T08:13:19Z</dcterms:created>
  <dcterms:modified xsi:type="dcterms:W3CDTF">2026-07-31T08:13:19Z</dcterms:modified>
</cp:coreProperties>
</file>